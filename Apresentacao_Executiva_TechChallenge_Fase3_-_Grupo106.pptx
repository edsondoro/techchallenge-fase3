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0" r:id="rId5"/>
    <p:sldId id="268" r:id="rId6"/>
    <p:sldId id="271" r:id="rId7"/>
    <p:sldId id="263" r:id="rId8"/>
    <p:sldId id="269" r:id="rId9"/>
    <p:sldId id="264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66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4D9584-A71D-443F-B858-F3EF371E7737}" v="7" dt="2026-09-10T21:52:06.3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4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title>
      <c:tx>
        <c:rich>
          <a:bodyPr/>
          <a:lstStyle/>
          <a:p>
            <a:r>
              <a:rPr sz="1200" b="0">
                <a:solidFill>
                  <a:srgbClr val="16233A"/>
                </a:solidFill>
                <a:latin typeface="Calibri"/>
              </a:rPr>
              <a:t>Importância por permutação (queda no F1)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Importância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16233A"/>
              </a:solidFill>
            </c:spPr>
            <c:extLst>
              <c:ext xmlns:c16="http://schemas.microsoft.com/office/drawing/2014/chart" uri="{C3380CC4-5D6E-409C-BE32-E72D297353CC}">
                <c16:uniqueId val="{00000001-34B5-4F77-831C-A111AA883CD0}"/>
              </c:ext>
            </c:extLst>
          </c:dPt>
          <c:dPt>
            <c:idx val="1"/>
            <c:invertIfNegative val="1"/>
            <c:bubble3D val="0"/>
            <c:spPr>
              <a:solidFill>
                <a:srgbClr val="F4B400"/>
              </a:solidFill>
            </c:spPr>
            <c:extLst>
              <c:ext xmlns:c16="http://schemas.microsoft.com/office/drawing/2014/chart" uri="{C3380CC4-5D6E-409C-BE32-E72D297353CC}">
                <c16:uniqueId val="{00000003-34B5-4F77-831C-A111AA883CD0}"/>
              </c:ext>
            </c:extLst>
          </c:dPt>
          <c:dPt>
            <c:idx val="2"/>
            <c:invertIfNegative val="1"/>
            <c:bubble3D val="0"/>
            <c:spPr>
              <a:solidFill>
                <a:srgbClr val="B8C0CC"/>
              </a:solidFill>
            </c:spPr>
            <c:extLst>
              <c:ext xmlns:c16="http://schemas.microsoft.com/office/drawing/2014/chart" uri="{C3380CC4-5D6E-409C-BE32-E72D297353CC}">
                <c16:uniqueId val="{00000005-34B5-4F77-831C-A111AA883CD0}"/>
              </c:ext>
            </c:extLst>
          </c:dPt>
          <c:dPt>
            <c:idx val="3"/>
            <c:invertIfNegative val="1"/>
            <c:bubble3D val="0"/>
            <c:spPr>
              <a:solidFill>
                <a:srgbClr val="B8C0CC"/>
              </a:solidFill>
            </c:spPr>
            <c:extLst>
              <c:ext xmlns:c16="http://schemas.microsoft.com/office/drawing/2014/chart" uri="{C3380CC4-5D6E-409C-BE32-E72D297353CC}">
                <c16:uniqueId val="{00000007-34B5-4F77-831C-A111AA883CD0}"/>
              </c:ext>
            </c:extLst>
          </c:dPt>
          <c:dPt>
            <c:idx val="4"/>
            <c:invertIfNegative val="1"/>
            <c:bubble3D val="0"/>
            <c:spPr>
              <a:solidFill>
                <a:srgbClr val="B8C0CC"/>
              </a:solidFill>
            </c:spPr>
            <c:extLst>
              <c:ext xmlns:c16="http://schemas.microsoft.com/office/drawing/2014/chart" uri="{C3380CC4-5D6E-409C-BE32-E72D297353CC}">
                <c16:uniqueId val="{00000009-34B5-4F77-831C-A111AA883CD0}"/>
              </c:ext>
            </c:extLst>
          </c:dPt>
          <c:dPt>
            <c:idx val="5"/>
            <c:invertIfNegative val="1"/>
            <c:bubble3D val="0"/>
            <c:spPr>
              <a:solidFill>
                <a:srgbClr val="B8C0CC"/>
              </a:solidFill>
            </c:spPr>
            <c:extLst>
              <c:ext xmlns:c16="http://schemas.microsoft.com/office/drawing/2014/chart" uri="{C3380CC4-5D6E-409C-BE32-E72D297353CC}">
                <c16:uniqueId val="{0000000B-34B5-4F77-831C-A111AA883CD0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1F2937"/>
                    </a:solidFill>
                    <a:latin typeface="Calibri"/>
                  </a:defRPr>
                </a:pPr>
                <a:endParaRPr lang="pt-B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Taxa de alfabetização</c:v>
                </c:pt>
                <c:pt idx="1">
                  <c:v>Taxa base da meta</c:v>
                </c:pt>
                <c:pt idx="2">
                  <c:v>Média em Português</c:v>
                </c:pt>
                <c:pt idx="3">
                  <c:v>% alunos nível 5</c:v>
                </c:pt>
                <c:pt idx="4">
                  <c:v>% alunos nível 3</c:v>
                </c:pt>
                <c:pt idx="5">
                  <c:v>% alunos nível 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0.34300000000000003</c:v>
                </c:pt>
                <c:pt idx="1">
                  <c:v>0.107</c:v>
                </c:pt>
                <c:pt idx="2">
                  <c:v>8.0000000000000002E-3</c:v>
                </c:pt>
                <c:pt idx="3">
                  <c:v>6.0000000000000001E-3</c:v>
                </c:pt>
                <c:pt idx="4">
                  <c:v>3.0000000000000001E-3</c:v>
                </c:pt>
                <c:pt idx="5">
                  <c:v>3.0000000000000001E-3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4B5-4F77-831C-A111AA883CD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B8C0CC"/>
            </a:solidFill>
          </a:ln>
        </c:spPr>
        <c:txPr>
          <a:bodyPr/>
          <a:lstStyle/>
          <a:p>
            <a:pPr>
              <a:defRPr sz="1050">
                <a:solidFill>
                  <a:srgbClr val="1F2937"/>
                </a:solidFill>
                <a:latin typeface="Calibri"/>
              </a:defRPr>
            </a:pPr>
            <a:endParaRPr lang="pt-B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2"/>
          <c:min val="0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20</c:v>
                </c:pt>
              </c:strCache>
            </c:strRef>
          </c:tx>
          <c:spPr>
            <a:solidFill>
              <a:srgbClr val="E0584F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83-4E63-8EC3-6DFA4B5AE9D9}"/>
              </c:ext>
            </c:extLst>
          </c:dPt>
          <c:dPt>
            <c:idx val="1"/>
            <c:invertIfNegative val="0"/>
            <c:bubble3D val="0"/>
            <c:spPr>
              <a:solidFill>
                <a:srgbClr val="B8C0C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983-4E63-8EC3-6DFA4B5AE9D9}"/>
              </c:ext>
            </c:extLst>
          </c:dPt>
          <c:dPt>
            <c:idx val="2"/>
            <c:invertIfNegative val="0"/>
            <c:bubble3D val="0"/>
            <c:spPr>
              <a:solidFill>
                <a:srgbClr val="B8C0C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983-4E63-8EC3-6DFA4B5AE9D9}"/>
              </c:ext>
            </c:extLst>
          </c:dPt>
          <c:dPt>
            <c:idx val="3"/>
            <c:invertIfNegative val="0"/>
            <c:bubble3D val="0"/>
            <c:spPr>
              <a:solidFill>
                <a:srgbClr val="B8C0C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983-4E63-8EC3-6DFA4B5AE9D9}"/>
              </c:ext>
            </c:extLst>
          </c:dPt>
          <c:dPt>
            <c:idx val="4"/>
            <c:invertIfNegative val="0"/>
            <c:bubble3D val="0"/>
            <c:spPr>
              <a:solidFill>
                <a:srgbClr val="B8C0C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983-4E63-8EC3-6DFA4B5AE9D9}"/>
              </c:ext>
            </c:extLst>
          </c:dPt>
          <c:dPt>
            <c:idx val="5"/>
            <c:invertIfNegative val="0"/>
            <c:bubble3D val="0"/>
            <c:spPr>
              <a:solidFill>
                <a:srgbClr val="B8C0C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983-4E63-8EC3-6DFA4B5AE9D9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F2937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RS</c:v>
                </c:pt>
                <c:pt idx="1">
                  <c:v>MA</c:v>
                </c:pt>
                <c:pt idx="2">
                  <c:v>BA</c:v>
                </c:pt>
                <c:pt idx="3">
                  <c:v>TO</c:v>
                </c:pt>
                <c:pt idx="4">
                  <c:v>RN</c:v>
                </c:pt>
                <c:pt idx="5">
                  <c:v>MG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983-4E63-8EC3-6DFA4B5AE9D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CEBEA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3851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(≈15s) Olá a todos. Somos o Grupo 106 e hoje vamos mostrar como transformamos os dados públicos do Indicador Criança Alfabetizada em uma ferramenta prática para priorizar ações de alfabetização nos municípios brasileiros.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(≈30s) Alfabetizar até o fim do 2º ano é a base de toda a trajetória escolar. Na camada Gold que construímos na Fase 2, 5.232 municípios têm meta definida — e 2.444 deles, 46,7%, não atingiram a meta. Quase metade. Olhar o resultado depois que ele acontece não basta: o gestor precisa saber onde está o risco para agir a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7CAEE-6276-0557-9BE1-48080A6B7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61440-5A9F-5515-2255-AF405BB95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77482D-418F-5C25-ED6F-DD94022F02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(≈30s) A exploração dos dados já mostrou um sinal forte: quem atingiu a meta tem resultado médio de 73,4, contra 51,7 de quem não atingiu — quase 22 pontos de diferença. No gráfico, as duas variáveis mais correlacionadas, o gap até a meta e o próprio resultado, são derivadas do alvo e por isso ficaram fora do modelo. Entre as variáveis válidas, lideram a taxa de alfabetização e a média em Português, seguidas pela distribuição dos alunos por níveis de proficiência.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FEE7C-D75F-1A5E-D8F8-D42D04F75D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67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(≈30s) Antes de treinar, garantimos que o modelo não “colasse” a resposta. Removemos tudo o que é derivado do próprio resultado: o gap até a meta, que tinha a maior correlação, o resultado e a meta do mesmo período, a classificação de risco, além de identificadores e metadados. Ficaram 12 preditores. Separamos 80% para treino e 20% para teste, de forma estratificada, e todo o pré-processamento é ajustado apenas no treino, dentro do pipeline do Scikit-learn.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(≈30s) Aqui abrimos o resultado no conjunto de teste: 1.047 municípios que o modelo nunca viu. No total, ele acertou 81%. Os quadros verdes são os acertos; o vermelho forte é o erro que mais nos preocupa: 106 municípios em risco que não foram sinalizados — por isso o ranking apoia, mas não substitui, o olhar técnico das secretarias. Os 93 alarmes falsos custam menos: no pior caso, uma visita a mais. As curvas confirmam: ROC-AUC de 0,90 — em 9 de cada 10 comparações o modelo aponta o município de maior risco — e precisão média de 0,92, contra 0,53 de um sorteio.</a:t>
            </a:r>
          </a:p>
          <a:p>
            <a:endParaRPr/>
          </a:p>
          <a:p>
            <a:r>
              <a:t>[Se perguntarem] A curva de precisão × cobertura foi calculada para a classe 'atingiu a meta' (padrão do scikit-learn). 0,53 é a proporção de municípios que atingiram a meta no teste (558 de 1.047), que é a precisão de um classificador aleatório.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(≈25s) E o que mais pesa na previsão? Pela importância por permutação, a taxa de alfabetização atual do município é o fator dominante, com impacto cerca de três vezes maior que o segundo: a taxa usada como base da meta — o ponto de partida define o tamanho do desafio. Os níveis de proficiência acrescentam pouco à previsão, mas seguem úteis para o diagnóstico pedagógico.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(≈30s) Tudo isso vira uma fila de priorização. Aqui estão os dez municípios com maior probabilidade de não atingir a meta na base de teste de 2024. Um padrão chama atenção: 11 dos 20 municípios de maior risco estão no Rio Grande do Sul, seguidos por Maranhão e Bahia. Esse é o tipo de achado que deve acionar uma investigação conjunta com as secretarias estaduais.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(≈25s) Em termos práticos, o que a solução entrega hoje ao gestor? Uma classificação de quais municípios tendem a atingir a meta, uma probabilidade de risco para cada um, um ranking de prioridades, a explicação dos fatores que mais pesam, a leitura territorial por estado e o agrupamento dos municípios em quatro perfis semelhantes — tudo a partir dos dados públicos integrados na camada Gold.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(≈30s) Como isso apoia políticas públicas? Primeiro, priorizando recursos, formação docente e acompanhamento pedagógico onde o risco é maior. Segundo, funcionando como alerta precoce, antes da próxima avaliação. Terceiro, ajudando a monitorar e calibrar metas, já que pontos de partida diferentes significam desafios diferentes. E, por fim, permitindo uma coordenação regional nos estados onde o risco se concentra.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(≈15s) Em resumo: com dados públicos e um modelo simples, estável e explicável, conseguimos apontar onde agir primeiro para garantir que mais crianças sejam alfabetizadas na idade certa. Obrigado!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4B69D3B9-EBE1-410B-7FBE-B0B660A7805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4942840"/>
            <a:ext cx="10429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Corporativo | Interno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· FASE 3 · FIAP PÓS TECH AI SCIENTIST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30716" y="2662765"/>
            <a:ext cx="5804324" cy="468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9D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de atingimento das metas do Indicador Criança Alfabetizada nos municípios brasileiros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3737611"/>
            <a:ext cx="5486400" cy="93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106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8F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Alessandra Capecce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8F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Santos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8FA0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Edson Doro</a:t>
            </a:r>
            <a:endParaRPr lang="en-US" sz="1400" b="1" dirty="0"/>
          </a:p>
        </p:txBody>
      </p:sp>
      <p:sp>
        <p:nvSpPr>
          <p:cNvPr id="6" name="Shape 4"/>
          <p:cNvSpPr/>
          <p:nvPr/>
        </p:nvSpPr>
        <p:spPr>
          <a:xfrm>
            <a:off x="6172200" y="1325880"/>
            <a:ext cx="2468880" cy="2468880"/>
          </a:xfrm>
          <a:prstGeom prst="ellipse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920240"/>
            <a:ext cx="1280160" cy="1280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0" y="960120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6"/>
          <p:cNvSpPr/>
          <p:nvPr/>
        </p:nvSpPr>
        <p:spPr>
          <a:xfrm>
            <a:off x="8275320" y="3657600"/>
            <a:ext cx="365760" cy="365760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8412480" y="914400"/>
            <a:ext cx="228600" cy="228600"/>
          </a:xfrm>
          <a:prstGeom prst="ellipse">
            <a:avLst/>
          </a:prstGeom>
          <a:solidFill>
            <a:srgbClr val="24344F"/>
          </a:solidFill>
          <a:ln w="12700">
            <a:solidFill>
              <a:srgbClr val="5B6F9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5806440" y="3931920"/>
            <a:ext cx="274320" cy="274320"/>
          </a:xfrm>
          <a:prstGeom prst="ellipse">
            <a:avLst/>
          </a:prstGeom>
          <a:solidFill>
            <a:srgbClr val="24344F"/>
          </a:solidFill>
          <a:ln w="12700">
            <a:solidFill>
              <a:srgbClr val="5B6F9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01C192FE-1DFB-6D1B-1BD0-9A5980EF1E25}"/>
              </a:ext>
            </a:extLst>
          </p:cNvPr>
          <p:cNvSpPr txBox="1"/>
          <p:nvPr/>
        </p:nvSpPr>
        <p:spPr>
          <a:xfrm>
            <a:off x="224366" y="1463040"/>
            <a:ext cx="6134947" cy="99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Predição e Inteligência Analítica para Alfabetização no Brasil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A8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 PROBLEMA EDUCACIONAL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Quase metade dos municípios não atingiu a meta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Alfabetizar até o fim do 2º ano é a base de toda a trajetória escolar. Olhar o resultado depois que ele acontece não basta: o gestor precisa saber onde está o risco para agir a tempo.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2057400" cy="141732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 txBox="1"/>
          <p:nvPr/>
        </p:nvSpPr>
        <p:spPr>
          <a:xfrm>
            <a:off x="640080" y="26517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5.232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2697480" y="2514600"/>
            <a:ext cx="2057400" cy="1417320"/>
          </a:xfrm>
          <a:prstGeom prst="roundRect">
            <a:avLst>
              <a:gd name="adj" fmla="val 592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 txBox="1"/>
          <p:nvPr/>
        </p:nvSpPr>
        <p:spPr>
          <a:xfrm>
            <a:off x="2880360" y="265176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05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46,7%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32735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atingiram a meta (2.444 municípios)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733287" y="1389888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6035039" y="1389888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6336791" y="1389888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6638543" y="1389888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6940295" y="1389888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7242047" y="1389888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7543799" y="1389888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7845551" y="1389888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8147303" y="1389888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8449055" y="1389888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5733287" y="1691640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6035039" y="1691640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6336791" y="1691640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6638543" y="1691640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6940295" y="1691640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Shape 27"/>
          <p:cNvSpPr/>
          <p:nvPr/>
        </p:nvSpPr>
        <p:spPr>
          <a:xfrm>
            <a:off x="7242047" y="1691640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7543799" y="1691640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7845551" y="1691640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8147303" y="1691640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Shape 31"/>
          <p:cNvSpPr/>
          <p:nvPr/>
        </p:nvSpPr>
        <p:spPr>
          <a:xfrm>
            <a:off x="8449055" y="1691640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Shape 32"/>
          <p:cNvSpPr/>
          <p:nvPr/>
        </p:nvSpPr>
        <p:spPr>
          <a:xfrm>
            <a:off x="5733287" y="1993392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3"/>
          <p:cNvSpPr/>
          <p:nvPr/>
        </p:nvSpPr>
        <p:spPr>
          <a:xfrm>
            <a:off x="6035039" y="1993392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6336791" y="1993392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35"/>
          <p:cNvSpPr/>
          <p:nvPr/>
        </p:nvSpPr>
        <p:spPr>
          <a:xfrm>
            <a:off x="6638543" y="1993392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Shape 36"/>
          <p:cNvSpPr/>
          <p:nvPr/>
        </p:nvSpPr>
        <p:spPr>
          <a:xfrm>
            <a:off x="6940295" y="1993392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Shape 37"/>
          <p:cNvSpPr/>
          <p:nvPr/>
        </p:nvSpPr>
        <p:spPr>
          <a:xfrm>
            <a:off x="7242047" y="1993392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Shape 38"/>
          <p:cNvSpPr/>
          <p:nvPr/>
        </p:nvSpPr>
        <p:spPr>
          <a:xfrm>
            <a:off x="7543799" y="1993392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Shape 39"/>
          <p:cNvSpPr/>
          <p:nvPr/>
        </p:nvSpPr>
        <p:spPr>
          <a:xfrm>
            <a:off x="7845551" y="1993392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Shape 40"/>
          <p:cNvSpPr/>
          <p:nvPr/>
        </p:nvSpPr>
        <p:spPr>
          <a:xfrm>
            <a:off x="8147303" y="1993392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Shape 41"/>
          <p:cNvSpPr/>
          <p:nvPr/>
        </p:nvSpPr>
        <p:spPr>
          <a:xfrm>
            <a:off x="8449055" y="1993392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Shape 42"/>
          <p:cNvSpPr/>
          <p:nvPr/>
        </p:nvSpPr>
        <p:spPr>
          <a:xfrm>
            <a:off x="5733287" y="2295144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5" name="Shape 43"/>
          <p:cNvSpPr/>
          <p:nvPr/>
        </p:nvSpPr>
        <p:spPr>
          <a:xfrm>
            <a:off x="6035039" y="2295144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6" name="Shape 44"/>
          <p:cNvSpPr/>
          <p:nvPr/>
        </p:nvSpPr>
        <p:spPr>
          <a:xfrm>
            <a:off x="6336791" y="2295144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Shape 45"/>
          <p:cNvSpPr/>
          <p:nvPr/>
        </p:nvSpPr>
        <p:spPr>
          <a:xfrm>
            <a:off x="6638543" y="2295144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Shape 46"/>
          <p:cNvSpPr/>
          <p:nvPr/>
        </p:nvSpPr>
        <p:spPr>
          <a:xfrm>
            <a:off x="6940295" y="2295144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Shape 47"/>
          <p:cNvSpPr/>
          <p:nvPr/>
        </p:nvSpPr>
        <p:spPr>
          <a:xfrm>
            <a:off x="7242047" y="2295144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Shape 48"/>
          <p:cNvSpPr/>
          <p:nvPr/>
        </p:nvSpPr>
        <p:spPr>
          <a:xfrm>
            <a:off x="7543799" y="2295144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Shape 49"/>
          <p:cNvSpPr/>
          <p:nvPr/>
        </p:nvSpPr>
        <p:spPr>
          <a:xfrm>
            <a:off x="7845551" y="2295144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Shape 50"/>
          <p:cNvSpPr/>
          <p:nvPr/>
        </p:nvSpPr>
        <p:spPr>
          <a:xfrm>
            <a:off x="8147303" y="2295144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Shape 51"/>
          <p:cNvSpPr/>
          <p:nvPr/>
        </p:nvSpPr>
        <p:spPr>
          <a:xfrm>
            <a:off x="8449055" y="2295144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Shape 52"/>
          <p:cNvSpPr/>
          <p:nvPr/>
        </p:nvSpPr>
        <p:spPr>
          <a:xfrm>
            <a:off x="5733287" y="2596896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Shape 53"/>
          <p:cNvSpPr/>
          <p:nvPr/>
        </p:nvSpPr>
        <p:spPr>
          <a:xfrm>
            <a:off x="6035039" y="2596896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Shape 54"/>
          <p:cNvSpPr/>
          <p:nvPr/>
        </p:nvSpPr>
        <p:spPr>
          <a:xfrm>
            <a:off x="6336791" y="2596896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Shape 55"/>
          <p:cNvSpPr/>
          <p:nvPr/>
        </p:nvSpPr>
        <p:spPr>
          <a:xfrm>
            <a:off x="6638543" y="2596896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8" name="Shape 56"/>
          <p:cNvSpPr/>
          <p:nvPr/>
        </p:nvSpPr>
        <p:spPr>
          <a:xfrm>
            <a:off x="6940295" y="2596896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Shape 57"/>
          <p:cNvSpPr/>
          <p:nvPr/>
        </p:nvSpPr>
        <p:spPr>
          <a:xfrm>
            <a:off x="7242047" y="2596896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0" name="Shape 58"/>
          <p:cNvSpPr/>
          <p:nvPr/>
        </p:nvSpPr>
        <p:spPr>
          <a:xfrm>
            <a:off x="7543799" y="2596896"/>
            <a:ext cx="237744" cy="23774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Shape 59"/>
          <p:cNvSpPr/>
          <p:nvPr/>
        </p:nvSpPr>
        <p:spPr>
          <a:xfrm>
            <a:off x="7845551" y="259689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Shape 60"/>
          <p:cNvSpPr/>
          <p:nvPr/>
        </p:nvSpPr>
        <p:spPr>
          <a:xfrm>
            <a:off x="8147303" y="259689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Shape 61"/>
          <p:cNvSpPr/>
          <p:nvPr/>
        </p:nvSpPr>
        <p:spPr>
          <a:xfrm>
            <a:off x="8449055" y="259689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4" name="Shape 62"/>
          <p:cNvSpPr/>
          <p:nvPr/>
        </p:nvSpPr>
        <p:spPr>
          <a:xfrm>
            <a:off x="5733287" y="2898648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Shape 63"/>
          <p:cNvSpPr/>
          <p:nvPr/>
        </p:nvSpPr>
        <p:spPr>
          <a:xfrm>
            <a:off x="6035039" y="2898648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Shape 64"/>
          <p:cNvSpPr/>
          <p:nvPr/>
        </p:nvSpPr>
        <p:spPr>
          <a:xfrm>
            <a:off x="6336791" y="2898648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Shape 65"/>
          <p:cNvSpPr/>
          <p:nvPr/>
        </p:nvSpPr>
        <p:spPr>
          <a:xfrm>
            <a:off x="6638543" y="2898648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8" name="Shape 66"/>
          <p:cNvSpPr/>
          <p:nvPr/>
        </p:nvSpPr>
        <p:spPr>
          <a:xfrm>
            <a:off x="6940295" y="2898648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Shape 67"/>
          <p:cNvSpPr/>
          <p:nvPr/>
        </p:nvSpPr>
        <p:spPr>
          <a:xfrm>
            <a:off x="7242047" y="2898648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Shape 68"/>
          <p:cNvSpPr/>
          <p:nvPr/>
        </p:nvSpPr>
        <p:spPr>
          <a:xfrm>
            <a:off x="7543799" y="2898648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Shape 69"/>
          <p:cNvSpPr/>
          <p:nvPr/>
        </p:nvSpPr>
        <p:spPr>
          <a:xfrm>
            <a:off x="7845551" y="2898648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Shape 70"/>
          <p:cNvSpPr/>
          <p:nvPr/>
        </p:nvSpPr>
        <p:spPr>
          <a:xfrm>
            <a:off x="8147303" y="2898648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Shape 71"/>
          <p:cNvSpPr/>
          <p:nvPr/>
        </p:nvSpPr>
        <p:spPr>
          <a:xfrm>
            <a:off x="8449055" y="2898648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Shape 72"/>
          <p:cNvSpPr/>
          <p:nvPr/>
        </p:nvSpPr>
        <p:spPr>
          <a:xfrm>
            <a:off x="5733287" y="3200400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Shape 73"/>
          <p:cNvSpPr/>
          <p:nvPr/>
        </p:nvSpPr>
        <p:spPr>
          <a:xfrm>
            <a:off x="6035039" y="3200400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Shape 74"/>
          <p:cNvSpPr/>
          <p:nvPr/>
        </p:nvSpPr>
        <p:spPr>
          <a:xfrm>
            <a:off x="6336791" y="3200400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Shape 75"/>
          <p:cNvSpPr/>
          <p:nvPr/>
        </p:nvSpPr>
        <p:spPr>
          <a:xfrm>
            <a:off x="6638543" y="3200400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Shape 76"/>
          <p:cNvSpPr/>
          <p:nvPr/>
        </p:nvSpPr>
        <p:spPr>
          <a:xfrm>
            <a:off x="6940295" y="3200400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Shape 77"/>
          <p:cNvSpPr/>
          <p:nvPr/>
        </p:nvSpPr>
        <p:spPr>
          <a:xfrm>
            <a:off x="7242047" y="3200400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0" name="Shape 78"/>
          <p:cNvSpPr/>
          <p:nvPr/>
        </p:nvSpPr>
        <p:spPr>
          <a:xfrm>
            <a:off x="7543799" y="3200400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1" name="Shape 79"/>
          <p:cNvSpPr/>
          <p:nvPr/>
        </p:nvSpPr>
        <p:spPr>
          <a:xfrm>
            <a:off x="7845551" y="3200400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Shape 80"/>
          <p:cNvSpPr/>
          <p:nvPr/>
        </p:nvSpPr>
        <p:spPr>
          <a:xfrm>
            <a:off x="8147303" y="3200400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Shape 81"/>
          <p:cNvSpPr/>
          <p:nvPr/>
        </p:nvSpPr>
        <p:spPr>
          <a:xfrm>
            <a:off x="8449055" y="3200400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Shape 82"/>
          <p:cNvSpPr/>
          <p:nvPr/>
        </p:nvSpPr>
        <p:spPr>
          <a:xfrm>
            <a:off x="5733287" y="3502152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Shape 83"/>
          <p:cNvSpPr/>
          <p:nvPr/>
        </p:nvSpPr>
        <p:spPr>
          <a:xfrm>
            <a:off x="6035039" y="3502152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Shape 84"/>
          <p:cNvSpPr/>
          <p:nvPr/>
        </p:nvSpPr>
        <p:spPr>
          <a:xfrm>
            <a:off x="6336791" y="3502152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7" name="Shape 85"/>
          <p:cNvSpPr/>
          <p:nvPr/>
        </p:nvSpPr>
        <p:spPr>
          <a:xfrm>
            <a:off x="6638543" y="3502152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Shape 86"/>
          <p:cNvSpPr/>
          <p:nvPr/>
        </p:nvSpPr>
        <p:spPr>
          <a:xfrm>
            <a:off x="6940295" y="3502152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9" name="Shape 87"/>
          <p:cNvSpPr/>
          <p:nvPr/>
        </p:nvSpPr>
        <p:spPr>
          <a:xfrm>
            <a:off x="7242047" y="3502152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0" name="Shape 88"/>
          <p:cNvSpPr/>
          <p:nvPr/>
        </p:nvSpPr>
        <p:spPr>
          <a:xfrm>
            <a:off x="7543799" y="3502152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Shape 89"/>
          <p:cNvSpPr/>
          <p:nvPr/>
        </p:nvSpPr>
        <p:spPr>
          <a:xfrm>
            <a:off x="7845551" y="3502152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Shape 90"/>
          <p:cNvSpPr/>
          <p:nvPr/>
        </p:nvSpPr>
        <p:spPr>
          <a:xfrm>
            <a:off x="8147303" y="3502152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Shape 91"/>
          <p:cNvSpPr/>
          <p:nvPr/>
        </p:nvSpPr>
        <p:spPr>
          <a:xfrm>
            <a:off x="8449055" y="3502152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Shape 92"/>
          <p:cNvSpPr/>
          <p:nvPr/>
        </p:nvSpPr>
        <p:spPr>
          <a:xfrm>
            <a:off x="5733287" y="3803904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Shape 93"/>
          <p:cNvSpPr/>
          <p:nvPr/>
        </p:nvSpPr>
        <p:spPr>
          <a:xfrm>
            <a:off x="6035039" y="3803904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Shape 94"/>
          <p:cNvSpPr/>
          <p:nvPr/>
        </p:nvSpPr>
        <p:spPr>
          <a:xfrm>
            <a:off x="6336791" y="3803904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7" name="Shape 95"/>
          <p:cNvSpPr/>
          <p:nvPr/>
        </p:nvSpPr>
        <p:spPr>
          <a:xfrm>
            <a:off x="6638543" y="3803904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8" name="Shape 96"/>
          <p:cNvSpPr/>
          <p:nvPr/>
        </p:nvSpPr>
        <p:spPr>
          <a:xfrm>
            <a:off x="6940295" y="3803904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Shape 97"/>
          <p:cNvSpPr/>
          <p:nvPr/>
        </p:nvSpPr>
        <p:spPr>
          <a:xfrm>
            <a:off x="7242047" y="3803904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0" name="Shape 98"/>
          <p:cNvSpPr/>
          <p:nvPr/>
        </p:nvSpPr>
        <p:spPr>
          <a:xfrm>
            <a:off x="7543799" y="3803904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1" name="Shape 99"/>
          <p:cNvSpPr/>
          <p:nvPr/>
        </p:nvSpPr>
        <p:spPr>
          <a:xfrm>
            <a:off x="7845551" y="3803904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Shape 100"/>
          <p:cNvSpPr/>
          <p:nvPr/>
        </p:nvSpPr>
        <p:spPr>
          <a:xfrm>
            <a:off x="8147303" y="3803904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3" name="Shape 101"/>
          <p:cNvSpPr/>
          <p:nvPr/>
        </p:nvSpPr>
        <p:spPr>
          <a:xfrm>
            <a:off x="8449055" y="3803904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4" name="Shape 102"/>
          <p:cNvSpPr/>
          <p:nvPr/>
        </p:nvSpPr>
        <p:spPr>
          <a:xfrm>
            <a:off x="5733287" y="410565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5" name="Shape 103"/>
          <p:cNvSpPr/>
          <p:nvPr/>
        </p:nvSpPr>
        <p:spPr>
          <a:xfrm>
            <a:off x="6035039" y="410565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6" name="Shape 104"/>
          <p:cNvSpPr/>
          <p:nvPr/>
        </p:nvSpPr>
        <p:spPr>
          <a:xfrm>
            <a:off x="6336791" y="410565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7" name="Shape 105"/>
          <p:cNvSpPr/>
          <p:nvPr/>
        </p:nvSpPr>
        <p:spPr>
          <a:xfrm>
            <a:off x="6638543" y="410565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8" name="Shape 106"/>
          <p:cNvSpPr/>
          <p:nvPr/>
        </p:nvSpPr>
        <p:spPr>
          <a:xfrm>
            <a:off x="6940295" y="410565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9" name="Shape 107"/>
          <p:cNvSpPr/>
          <p:nvPr/>
        </p:nvSpPr>
        <p:spPr>
          <a:xfrm>
            <a:off x="7242047" y="410565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0" name="Shape 108"/>
          <p:cNvSpPr/>
          <p:nvPr/>
        </p:nvSpPr>
        <p:spPr>
          <a:xfrm>
            <a:off x="7543799" y="410565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1" name="Shape 109"/>
          <p:cNvSpPr/>
          <p:nvPr/>
        </p:nvSpPr>
        <p:spPr>
          <a:xfrm>
            <a:off x="7845551" y="410565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2" name="Shape 110"/>
          <p:cNvSpPr/>
          <p:nvPr/>
        </p:nvSpPr>
        <p:spPr>
          <a:xfrm>
            <a:off x="8147303" y="410565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3" name="Shape 111"/>
          <p:cNvSpPr/>
          <p:nvPr/>
        </p:nvSpPr>
        <p:spPr>
          <a:xfrm>
            <a:off x="8449055" y="4105656"/>
            <a:ext cx="237744" cy="23774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4" name="Shape 112"/>
          <p:cNvSpPr/>
          <p:nvPr/>
        </p:nvSpPr>
        <p:spPr>
          <a:xfrm>
            <a:off x="5733287" y="4572000"/>
            <a:ext cx="146304" cy="146304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5" name="Text 113"/>
          <p:cNvSpPr txBox="1"/>
          <p:nvPr/>
        </p:nvSpPr>
        <p:spPr>
          <a:xfrm>
            <a:off x="5934455" y="451713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atingiu (46,7%)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7379207" y="4572000"/>
            <a:ext cx="146304" cy="1463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7" name="Text 115"/>
          <p:cNvSpPr txBox="1"/>
          <p:nvPr/>
        </p:nvSpPr>
        <p:spPr>
          <a:xfrm>
            <a:off x="7580375" y="45171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Atingiu (53,3%)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7355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meta definida na camada Gold</a:t>
            </a:r>
            <a:endParaRPr lang="en-US" sz="1100" dirty="0"/>
          </a:p>
        </p:txBody>
      </p:sp>
      <p:sp>
        <p:nvSpPr>
          <p:cNvPr id="118" name="TextBox 117"/>
          <p:cNvSpPr txBox="1"/>
          <p:nvPr/>
        </p:nvSpPr>
        <p:spPr>
          <a:xfrm>
            <a:off x="457200" y="416052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Cada ponto = 1% das observações com meta.</a:t>
            </a:r>
          </a:p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Fonte: camada Gold (Fase 2) — INEP, Indicador Criança Alfabetizada.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6883-C0E2-776B-4AB2-FE083511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B0CF86A-709A-F4E1-5D08-00371046D4DA}"/>
              </a:ext>
            </a:extLst>
          </p:cNvPr>
          <p:cNvSpPr txBox="1"/>
          <p:nvPr/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200" dirty="0">
                <a:solidFill>
                  <a:srgbClr val="A8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PRINCIPAIS INSIGHTS – O QUE OS DADOS REVELAM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58FBF4-73CB-7FE6-41B4-4CA3D15C4C12}"/>
              </a:ext>
            </a:extLst>
          </p:cNvPr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desempenho atual separa quem atinge a meta</a:t>
            </a:r>
            <a:endParaRPr lang="en-US" sz="25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523ED1F-42B4-4DE6-18D4-E59AAF18A7AF}"/>
              </a:ext>
            </a:extLst>
          </p:cNvPr>
          <p:cNvSpPr txBox="1"/>
          <p:nvPr/>
        </p:nvSpPr>
        <p:spPr>
          <a:xfrm>
            <a:off x="457200" y="928116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73,4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349F2E-FFB7-4DD5-4613-C7230F16ED31}"/>
              </a:ext>
            </a:extLst>
          </p:cNvPr>
          <p:cNvSpPr txBox="1"/>
          <p:nvPr/>
        </p:nvSpPr>
        <p:spPr>
          <a:xfrm>
            <a:off x="457200" y="16139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médio de quem atingiu a meta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A764FCA-8486-244A-2291-EE075A74457A}"/>
              </a:ext>
            </a:extLst>
          </p:cNvPr>
          <p:cNvSpPr txBox="1"/>
          <p:nvPr/>
        </p:nvSpPr>
        <p:spPr>
          <a:xfrm>
            <a:off x="2377440" y="928116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5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51,7</a:t>
            </a:r>
            <a:endParaRPr lang="en-US" sz="4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E6B61C1-BCA2-7D53-FBC7-5E2CA80464DB}"/>
              </a:ext>
            </a:extLst>
          </p:cNvPr>
          <p:cNvSpPr txBox="1"/>
          <p:nvPr/>
        </p:nvSpPr>
        <p:spPr>
          <a:xfrm>
            <a:off x="2377440" y="16139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médio de quem não atingiu</a:t>
            </a:r>
            <a:endParaRPr lang="en-US" sz="1100" dirty="0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C6FBA809-68B6-82AD-7FC0-C87754D19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682" y="2016530"/>
            <a:ext cx="5379919" cy="2801003"/>
          </a:xfrm>
          <a:prstGeom prst="rect">
            <a:avLst/>
          </a:prstGeom>
        </p:spPr>
      </p:pic>
      <p:sp>
        <p:nvSpPr>
          <p:cNvPr id="20" name="Text 4">
            <a:extLst>
              <a:ext uri="{FF2B5EF4-FFF2-40B4-BE49-F238E27FC236}">
                <a16:creationId xmlns:a16="http://schemas.microsoft.com/office/drawing/2014/main" id="{0753BE71-C62E-0C1A-2A89-D48F862AA569}"/>
              </a:ext>
            </a:extLst>
          </p:cNvPr>
          <p:cNvSpPr txBox="1"/>
          <p:nvPr/>
        </p:nvSpPr>
        <p:spPr>
          <a:xfrm>
            <a:off x="6628457" y="2638352"/>
            <a:ext cx="607905" cy="30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</a:rPr>
              <a:t>0,56</a:t>
            </a:r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FFA73617-2A93-4D22-2EB7-24FA883E97B9}"/>
              </a:ext>
            </a:extLst>
          </p:cNvPr>
          <p:cNvSpPr txBox="1"/>
          <p:nvPr/>
        </p:nvSpPr>
        <p:spPr>
          <a:xfrm>
            <a:off x="6381230" y="2854052"/>
            <a:ext cx="607905" cy="30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</a:rPr>
              <a:t>0,51</a:t>
            </a:r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7F581EA4-846A-D4E8-6A41-7F8D21344C4F}"/>
              </a:ext>
            </a:extLst>
          </p:cNvPr>
          <p:cNvSpPr txBox="1"/>
          <p:nvPr/>
        </p:nvSpPr>
        <p:spPr>
          <a:xfrm>
            <a:off x="6111991" y="3083976"/>
            <a:ext cx="607905" cy="30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</a:rPr>
              <a:t>0,45</a:t>
            </a:r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C922CE95-D5F6-2FA7-D88B-EB77F910520A}"/>
              </a:ext>
            </a:extLst>
          </p:cNvPr>
          <p:cNvSpPr txBox="1"/>
          <p:nvPr/>
        </p:nvSpPr>
        <p:spPr>
          <a:xfrm>
            <a:off x="6027328" y="3304479"/>
            <a:ext cx="607905" cy="30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</a:rPr>
              <a:t>0,44</a:t>
            </a:r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3094C928-A93D-7A56-3A3C-A74CF6B2DA1C}"/>
              </a:ext>
            </a:extLst>
          </p:cNvPr>
          <p:cNvSpPr txBox="1"/>
          <p:nvPr/>
        </p:nvSpPr>
        <p:spPr>
          <a:xfrm>
            <a:off x="6027328" y="3530201"/>
            <a:ext cx="607905" cy="30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</a:rPr>
              <a:t>0,43</a:t>
            </a: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4F41F156-7E48-E5A7-DC82-17C65647E179}"/>
              </a:ext>
            </a:extLst>
          </p:cNvPr>
          <p:cNvSpPr txBox="1"/>
          <p:nvPr/>
        </p:nvSpPr>
        <p:spPr>
          <a:xfrm>
            <a:off x="5875775" y="3746018"/>
            <a:ext cx="607905" cy="30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</a:rPr>
              <a:t>0,41</a:t>
            </a:r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793D08FB-31DD-D245-1604-7F9D2518CE24}"/>
              </a:ext>
            </a:extLst>
          </p:cNvPr>
          <p:cNvSpPr txBox="1"/>
          <p:nvPr/>
        </p:nvSpPr>
        <p:spPr>
          <a:xfrm>
            <a:off x="5773325" y="3981873"/>
            <a:ext cx="607905" cy="30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</a:rPr>
              <a:t>0,39</a:t>
            </a:r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E06E4D37-26AE-8D52-0D06-C07679DCF74D}"/>
              </a:ext>
            </a:extLst>
          </p:cNvPr>
          <p:cNvSpPr txBox="1"/>
          <p:nvPr/>
        </p:nvSpPr>
        <p:spPr>
          <a:xfrm>
            <a:off x="5666644" y="4197636"/>
            <a:ext cx="607905" cy="30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</a:rPr>
              <a:t>0,37</a:t>
            </a:r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C9B5E0E0-858B-5702-01DF-021895601C55}"/>
              </a:ext>
            </a:extLst>
          </p:cNvPr>
          <p:cNvSpPr txBox="1"/>
          <p:nvPr/>
        </p:nvSpPr>
        <p:spPr>
          <a:xfrm>
            <a:off x="7654616" y="2187926"/>
            <a:ext cx="607905" cy="30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</a:rPr>
              <a:t>0,76</a:t>
            </a:r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1933C0F9-B115-42A7-097E-3F209D98C8EC}"/>
              </a:ext>
            </a:extLst>
          </p:cNvPr>
          <p:cNvSpPr txBox="1"/>
          <p:nvPr/>
        </p:nvSpPr>
        <p:spPr>
          <a:xfrm>
            <a:off x="6685182" y="2410046"/>
            <a:ext cx="607905" cy="30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mbria" pitchFamily="34" charset="0"/>
                <a:ea typeface="Cambria" pitchFamily="34" charset="-122"/>
              </a:rPr>
              <a:t>0,57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44952" y="2231136"/>
            <a:ext cx="5303520" cy="475488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E058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457200" y="2240280"/>
            <a:ext cx="2377440" cy="114300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1792" y="235000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00">
                <a:solidFill>
                  <a:srgbClr val="E0584F"/>
                </a:solidFill>
                <a:latin typeface="Calibri"/>
              </a:rPr>
              <a:t>EXCLUÍDAS DO MODELO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260604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gap_meta e resultado_alfabetizacao derivam do próprio alvo: seriam vazamento de dados.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3566160"/>
            <a:ext cx="2377440" cy="1143000"/>
          </a:xfrm>
          <a:prstGeom prst="roundRect">
            <a:avLst>
              <a:gd name="adj" fmla="val 6000"/>
            </a:avLst>
          </a:prstGeom>
          <a:solidFill>
            <a:srgbClr val="E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1792" y="3675887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00">
                <a:solidFill>
                  <a:srgbClr val="2A9D8F"/>
                </a:solidFill>
                <a:latin typeface="Calibri"/>
              </a:rPr>
              <a:t>SINAIS USADOS PELO MODELO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" y="393192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Taxa de alfabetização (0,56) e média em Português (0,51) lideram entre as variáveis válidas.</a:t>
            </a:r>
          </a:p>
        </p:txBody>
      </p:sp>
    </p:spTree>
    <p:extLst>
      <p:ext uri="{BB962C8B-B14F-4D97-AF65-F5344CB8AC3E}">
        <p14:creationId xmlns:p14="http://schemas.microsoft.com/office/powerpoint/2010/main" val="2888065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6233A"/>
                </a:solidFill>
                <a:latin typeface="Cambria" pitchFamily="34" charset="0"/>
                <a:ea typeface="Cambria" pitchFamily="34" charset="-122"/>
              </a:rPr>
              <a:t>Prevenção</a:t>
            </a:r>
            <a:r>
              <a:rPr lang="en-US" sz="25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</a:rPr>
              <a:t> de data leakage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FCEBEA"/>
          </a:solidFill>
          <a:ln w="12700">
            <a:solidFill>
              <a:srgbClr val="FCEB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685800" y="1508760"/>
            <a:ext cx="502920" cy="502920"/>
          </a:xfrm>
          <a:prstGeom prst="ellipse">
            <a:avLst/>
          </a:prstGeom>
          <a:solidFill>
            <a:srgbClr val="E0584F"/>
          </a:solidFill>
          <a:ln w="12700">
            <a:solidFill>
              <a:srgbClr val="E058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8" y="1649578"/>
            <a:ext cx="221285" cy="2212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5087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Removido do modelo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9456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até a meta — derivado do próprio alvo (correlação 0,76)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 meta do mesmo período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risco e status da meta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Identificadores, datas e metadados de processamento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709160" y="1325880"/>
            <a:ext cx="3977640" cy="2423160"/>
          </a:xfrm>
          <a:prstGeom prst="roundRect">
            <a:avLst>
              <a:gd name="adj" fmla="val 3019"/>
            </a:avLst>
          </a:prstGeom>
          <a:solidFill>
            <a:srgbClr val="E4F3F1"/>
          </a:solidFill>
          <a:ln w="12700">
            <a:solidFill>
              <a:srgbClr val="E4F3F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4937760" y="1508760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8578" y="1649578"/>
            <a:ext cx="221285" cy="22128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0" y="15087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Mantido: 12 preditores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983480" y="219456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alfabetização do município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de proficiência em Português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alunos por nível de proficiência (0 a 8)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alfabetização base da meta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57200" y="393192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1"/>
          <p:cNvSpPr txBox="1"/>
          <p:nvPr/>
        </p:nvSpPr>
        <p:spPr>
          <a:xfrm>
            <a:off x="640080" y="3986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80/20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4343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treino/teste estratificada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246120" y="3931920"/>
            <a:ext cx="2651760" cy="777240"/>
          </a:xfrm>
          <a:prstGeom prst="roundRect">
            <a:avLst>
              <a:gd name="adj" fmla="val 941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4"/>
          <p:cNvSpPr txBox="1"/>
          <p:nvPr/>
        </p:nvSpPr>
        <p:spPr>
          <a:xfrm>
            <a:off x="3429000" y="39867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4.185 · 1.047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3429000" y="4343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observações de treino e de teste</a:t>
            </a:r>
            <a:endParaRPr lang="en-US" sz="1100" dirty="0"/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C1912F2F-E7F7-208B-D8B6-308DB745F923}"/>
              </a:ext>
            </a:extLst>
          </p:cNvPr>
          <p:cNvSpPr txBox="1"/>
          <p:nvPr/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kern="0" spc="200" dirty="0">
                <a:solidFill>
                  <a:srgbClr val="A8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PRINCIPAIS INSIGHTS – O QUE OS DADOS REVELAM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00" dirty="0">
                <a:solidFill>
                  <a:srgbClr val="A86B00"/>
                </a:solidFill>
                <a:latin typeface="Calibri"/>
              </a:rPr>
              <a:t>02 · PRINCIPAIS INSIGHTS – O QUE OS DADOS REVELAM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 dirty="0">
                <a:solidFill>
                  <a:srgbClr val="16233A"/>
                </a:solidFill>
                <a:latin typeface="Cambria"/>
              </a:rPr>
              <a:t>Onde o </a:t>
            </a:r>
            <a:r>
              <a:rPr sz="2500" b="1" i="0" dirty="0" err="1">
                <a:solidFill>
                  <a:srgbClr val="16233A"/>
                </a:solidFill>
                <a:latin typeface="Cambria"/>
              </a:rPr>
              <a:t>modelo</a:t>
            </a:r>
            <a:r>
              <a:rPr sz="2500" b="1" i="0" dirty="0">
                <a:solidFill>
                  <a:srgbClr val="16233A"/>
                </a:solidFill>
                <a:latin typeface="Cambria"/>
              </a:rPr>
              <a:t> </a:t>
            </a:r>
            <a:r>
              <a:rPr sz="2500" b="1" i="0" dirty="0" err="1">
                <a:solidFill>
                  <a:srgbClr val="16233A"/>
                </a:solidFill>
                <a:latin typeface="Cambria"/>
              </a:rPr>
              <a:t>acerta</a:t>
            </a:r>
            <a:r>
              <a:rPr sz="2500" b="1" i="0" dirty="0">
                <a:solidFill>
                  <a:srgbClr val="16233A"/>
                </a:solidFill>
                <a:latin typeface="Cambria"/>
              </a:rPr>
              <a:t> e </a:t>
            </a:r>
            <a:r>
              <a:rPr sz="2500" b="1" i="0" dirty="0" err="1">
                <a:solidFill>
                  <a:srgbClr val="16233A"/>
                </a:solidFill>
                <a:latin typeface="Cambria"/>
              </a:rPr>
              <a:t>onde</a:t>
            </a:r>
            <a:r>
              <a:rPr sz="2500" b="1" i="0" dirty="0">
                <a:solidFill>
                  <a:srgbClr val="16233A"/>
                </a:solidFill>
                <a:latin typeface="Cambria"/>
              </a:rPr>
              <a:t> </a:t>
            </a:r>
            <a:r>
              <a:rPr sz="2500" b="1" i="0" dirty="0" err="1">
                <a:solidFill>
                  <a:srgbClr val="16233A"/>
                </a:solidFill>
                <a:latin typeface="Cambria"/>
              </a:rPr>
              <a:t>ele</a:t>
            </a:r>
            <a:r>
              <a:rPr sz="2500" b="1" i="0" dirty="0">
                <a:solidFill>
                  <a:srgbClr val="16233A"/>
                </a:solidFill>
                <a:latin typeface="Cambria"/>
              </a:rPr>
              <a:t> </a:t>
            </a:r>
            <a:r>
              <a:rPr sz="2500" b="1" i="0" dirty="0" err="1">
                <a:solidFill>
                  <a:srgbClr val="16233A"/>
                </a:solidFill>
                <a:latin typeface="Cambria"/>
              </a:rPr>
              <a:t>erra</a:t>
            </a:r>
            <a:endParaRPr sz="2500" b="1" i="0" dirty="0">
              <a:solidFill>
                <a:srgbClr val="16233A"/>
              </a:solidFill>
              <a:latin typeface="Cambr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00200" y="1216152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1" i="0" spc="150">
                <a:solidFill>
                  <a:srgbClr val="6B7280"/>
                </a:solidFill>
                <a:latin typeface="Calibri"/>
              </a:rPr>
              <a:t>O MODELO PREVIU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44475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i="0">
                <a:solidFill>
                  <a:srgbClr val="16233A"/>
                </a:solidFill>
                <a:latin typeface="Calibri"/>
              </a:rPr>
              <a:t>Não atinge a meta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44475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i="0">
                <a:solidFill>
                  <a:srgbClr val="16233A"/>
                </a:solidFill>
                <a:latin typeface="Calibri"/>
              </a:rPr>
              <a:t>Atinge a meta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10515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 i="0" dirty="0">
                <a:solidFill>
                  <a:srgbClr val="6B7280"/>
                </a:solidFill>
                <a:latin typeface="Calibri"/>
              </a:rPr>
              <a:t>NA REALIDADE</a:t>
            </a:r>
          </a:p>
          <a:p>
            <a:pPr algn="l"/>
            <a:r>
              <a:rPr sz="1200" b="1" i="0" dirty="0" err="1">
                <a:solidFill>
                  <a:srgbClr val="16233A"/>
                </a:solidFill>
                <a:latin typeface="Calibri"/>
              </a:rPr>
              <a:t>Não</a:t>
            </a:r>
            <a:r>
              <a:rPr sz="1200" b="1" i="0" dirty="0">
                <a:solidFill>
                  <a:srgbClr val="16233A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16233A"/>
                </a:solidFill>
                <a:latin typeface="Calibri"/>
              </a:rPr>
              <a:t>atingiu</a:t>
            </a:r>
            <a:endParaRPr sz="1200" b="1" i="0" dirty="0">
              <a:solidFill>
                <a:srgbClr val="16233A"/>
              </a:solidFill>
              <a:latin typeface="Calibri"/>
            </a:endParaRPr>
          </a:p>
          <a:p>
            <a:pPr algn="l"/>
            <a:r>
              <a:rPr sz="1000" b="0" i="0" dirty="0">
                <a:solidFill>
                  <a:srgbClr val="6B7280"/>
                </a:solidFill>
                <a:latin typeface="Calibri"/>
              </a:rPr>
              <a:t>489 </a:t>
            </a:r>
            <a:r>
              <a:rPr sz="1000" b="0" i="0" dirty="0" err="1">
                <a:solidFill>
                  <a:srgbClr val="6B7280"/>
                </a:solidFill>
                <a:latin typeface="Calibri"/>
              </a:rPr>
              <a:t>municípios</a:t>
            </a:r>
            <a:endParaRPr sz="1000" b="0" i="0" dirty="0">
              <a:solidFill>
                <a:srgbClr val="6B728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10515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 i="0">
                <a:solidFill>
                  <a:srgbClr val="6B7280"/>
                </a:solidFill>
                <a:latin typeface="Calibri"/>
              </a:rPr>
              <a:t>NA REALIDADE</a:t>
            </a:r>
          </a:p>
          <a:p>
            <a:pPr algn="l"/>
            <a:r>
              <a:rPr sz="1200" b="1" i="0">
                <a:solidFill>
                  <a:srgbClr val="16233A"/>
                </a:solidFill>
                <a:latin typeface="Calibri"/>
              </a:rPr>
              <a:t>Atingiu</a:t>
            </a:r>
          </a:p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558 municípios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0200" y="1783080"/>
            <a:ext cx="1417320" cy="109728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00200" y="1783080"/>
            <a:ext cx="1417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mbria"/>
              </a:rPr>
              <a:t>383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Risco detectado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1783080"/>
            <a:ext cx="1417320" cy="1097280"/>
          </a:xfrm>
          <a:prstGeom prst="roundRect">
            <a:avLst>
              <a:gd name="adj" fmla="val 6000"/>
            </a:avLst>
          </a:prstGeom>
          <a:solidFill>
            <a:srgbClr val="E0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08960" y="1783080"/>
            <a:ext cx="1417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mbria"/>
              </a:rPr>
              <a:t>106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Risco não detectado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00200" y="2971800"/>
            <a:ext cx="1417320" cy="1097280"/>
          </a:xfrm>
          <a:prstGeom prst="roundRect">
            <a:avLst>
              <a:gd name="adj" fmla="val 6000"/>
            </a:avLst>
          </a:prstGeom>
          <a:solidFill>
            <a:srgbClr val="FCE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00200" y="2971800"/>
            <a:ext cx="1417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E0584F"/>
                </a:solidFill>
                <a:latin typeface="Cambria"/>
              </a:rPr>
              <a:t>93</a:t>
            </a:r>
          </a:p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Alarme falso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2971800"/>
            <a:ext cx="1417320" cy="109728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08960" y="2971800"/>
            <a:ext cx="1417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mbria"/>
              </a:rPr>
              <a:t>465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Acerto: fora de risco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123944"/>
            <a:ext cx="4069080" cy="6217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846320" y="1234440"/>
            <a:ext cx="3840480" cy="1645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roc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4274" y="1344168"/>
            <a:ext cx="1583746" cy="1426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693408" y="1362456"/>
            <a:ext cx="18836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A86B00"/>
                </a:solidFill>
                <a:latin typeface="Calibri"/>
              </a:rPr>
              <a:t>CURVA ROC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1581912"/>
            <a:ext cx="18836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16233A"/>
                </a:solidFill>
                <a:latin typeface="Cambria"/>
              </a:rPr>
              <a:t>0,90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2039112"/>
            <a:ext cx="18836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vs. 0,50 de um sorteio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2267712"/>
            <a:ext cx="18836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Em 9 de cada 10 comparações entre dois municípios, aponta qual está em maior risco.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0" y="3081528"/>
            <a:ext cx="3840480" cy="1645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pr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5546" y="3191256"/>
            <a:ext cx="1501203" cy="14264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3408" y="3209544"/>
            <a:ext cx="18836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100">
                <a:solidFill>
                  <a:srgbClr val="A86B00"/>
                </a:solidFill>
                <a:latin typeface="Calibri"/>
              </a:rPr>
              <a:t>PRECISÃO × COBERTURA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93408" y="3429000"/>
            <a:ext cx="18836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16233A"/>
                </a:solidFill>
                <a:latin typeface="Cambria"/>
              </a:rPr>
              <a:t>0,92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886200"/>
            <a:ext cx="188366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vs. 0,53 de um sorteio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3408" y="4114800"/>
            <a:ext cx="18836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As previsões seguem confiáveis mesmo quando a lista de municípios é ampliada.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4123944"/>
            <a:ext cx="37947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2A9D8F"/>
                </a:solidFill>
                <a:latin typeface="Calibri"/>
              </a:rPr>
              <a:t>81%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de acerto no total (848 de 1.047 municípios)</a:t>
            </a:r>
          </a:p>
          <a:p>
            <a:pPr algn="l"/>
            <a:r>
              <a:rPr sz="1050" b="1" i="0">
                <a:solidFill>
                  <a:srgbClr val="E0584F"/>
                </a:solidFill>
                <a:latin typeface="Calibri"/>
              </a:rPr>
              <a:t>78%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dos municípios em risco foram detectados (383 de 489)</a:t>
            </a:r>
          </a:p>
          <a:p>
            <a:pPr algn="l"/>
            <a:r>
              <a:rPr sz="1050" b="1" i="0">
                <a:solidFill>
                  <a:srgbClr val="E0584F"/>
                </a:solidFill>
                <a:latin typeface="Calibri"/>
              </a:rPr>
              <a:t>8 em 10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alertas de risco estavam corretos (383 de 476)</a:t>
            </a:r>
          </a:p>
        </p:txBody>
      </p:sp>
    </p:spTree>
    <p:extLst>
      <p:ext uri="{BB962C8B-B14F-4D97-AF65-F5344CB8AC3E}">
        <p14:creationId xmlns:p14="http://schemas.microsoft.com/office/powerpoint/2010/main" val="2450900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A86B00"/>
                </a:solidFill>
                <a:latin typeface="Calibri"/>
              </a:rPr>
              <a:t>02 · PRINCIPAIS INSIGHTS – O QUE OS DADOS REVELAM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16233A"/>
                </a:solidFill>
                <a:latin typeface="Cambria"/>
              </a:rPr>
              <a:t>O nível atual de alfabetização domina a previsão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234440"/>
          <a:ext cx="4480560" cy="3337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Oval 4"/>
          <p:cNvSpPr/>
          <p:nvPr/>
        </p:nvSpPr>
        <p:spPr>
          <a:xfrm>
            <a:off x="5166360" y="1371600"/>
            <a:ext cx="457200" cy="457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166360" y="13716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1353312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6233A"/>
                </a:solidFill>
                <a:latin typeface="Calibri"/>
              </a:rPr>
              <a:t>O nível atual é decisivo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673352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7280"/>
                </a:solidFill>
                <a:latin typeface="Calibri"/>
              </a:rPr>
              <a:t>Impacto cerca de 3x maior que o segundo fator (0,343 vs. 0,107).</a:t>
            </a:r>
          </a:p>
        </p:txBody>
      </p:sp>
      <p:sp>
        <p:nvSpPr>
          <p:cNvPr id="9" name="Oval 8"/>
          <p:cNvSpPr/>
          <p:nvPr/>
        </p:nvSpPr>
        <p:spPr>
          <a:xfrm>
            <a:off x="5166360" y="2468880"/>
            <a:ext cx="457200" cy="45720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66360" y="24688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16233A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450592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6233A"/>
                </a:solidFill>
                <a:latin typeface="Calibri"/>
              </a:rPr>
              <a:t>O ponto de partida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770632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7280"/>
                </a:solidFill>
                <a:latin typeface="Calibri"/>
              </a:rPr>
              <a:t>A taxa usada como base da meta é o 2º fator: metas não têm a mesma dificuldade para todos.</a:t>
            </a:r>
          </a:p>
        </p:txBody>
      </p:sp>
      <p:sp>
        <p:nvSpPr>
          <p:cNvPr id="13" name="Oval 12"/>
          <p:cNvSpPr/>
          <p:nvPr/>
        </p:nvSpPr>
        <p:spPr>
          <a:xfrm>
            <a:off x="5166360" y="3566160"/>
            <a:ext cx="457200" cy="457200"/>
          </a:xfrm>
          <a:prstGeom prst="ellipse">
            <a:avLst/>
          </a:prstGeom>
          <a:solidFill>
            <a:srgbClr val="B8C0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66360" y="35661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16233A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3547872"/>
            <a:ext cx="2880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6233A"/>
                </a:solidFill>
                <a:latin typeface="Calibri"/>
              </a:rPr>
              <a:t>Níveis de proficiência somam pouco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3867911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B7280"/>
                </a:solidFill>
                <a:latin typeface="Calibri"/>
              </a:rPr>
              <a:t>Carregam informação parecida com a taxa; ajudam no diagnóstico pedagógico, não na previsão.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B7280"/>
                </a:solidFill>
                <a:latin typeface="Calibri"/>
              </a:rPr>
              <a:t>Modelo campeão: Regressão Logística. Queda média no F1 ao embaralhar cada variável na base de teste.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16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de risco municipal</a:t>
            </a:r>
            <a:endParaRPr lang="en-US" sz="2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5120640" cy="301752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IBGE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alfabetização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 de não atingir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4320453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4302584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1713601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2109056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4301875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4320321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4310413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2926905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4313490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2411502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0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99,88%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897880" y="1298448"/>
            <a:ext cx="2788920" cy="3017520"/>
          </a:xfrm>
          <a:prstGeom prst="roundRect">
            <a:avLst>
              <a:gd name="adj" fmla="val 2623"/>
            </a:avLst>
          </a:prstGeom>
          <a:solidFill>
            <a:srgbClr val="FCEBEA"/>
          </a:solidFill>
          <a:ln w="12700">
            <a:solidFill>
              <a:srgbClr val="FCEB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 txBox="1"/>
          <p:nvPr/>
        </p:nvSpPr>
        <p:spPr>
          <a:xfrm>
            <a:off x="6080760" y="138988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058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de 20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de maior risco estão no Rio Grande do Sul</a:t>
            </a:r>
            <a:endParaRPr lang="en-US" sz="12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989320" y="2423160"/>
          <a:ext cx="260604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5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do ranking na base de teste (1.047 municípios, 2024). UF derivada dos dois primeiros dígitos do código IBGE.</a:t>
            </a:r>
            <a:endParaRPr lang="en-US" sz="950" dirty="0"/>
          </a:p>
        </p:txBody>
      </p:sp>
      <p:sp>
        <p:nvSpPr>
          <p:cNvPr id="11" name="TextBox 1">
            <a:extLst>
              <a:ext uri="{FF2B5EF4-FFF2-40B4-BE49-F238E27FC236}">
                <a16:creationId xmlns:a16="http://schemas.microsoft.com/office/drawing/2014/main" id="{580DD7C2-96CA-7C68-D81B-57FA6C192594}"/>
              </a:ext>
            </a:extLst>
          </p:cNvPr>
          <p:cNvSpPr txBox="1"/>
          <p:nvPr/>
        </p:nvSpPr>
        <p:spPr>
          <a:xfrm>
            <a:off x="457200" y="29260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00" dirty="0">
                <a:solidFill>
                  <a:srgbClr val="A86B00"/>
                </a:solidFill>
                <a:latin typeface="Calibri"/>
              </a:rPr>
              <a:t>02 · PRINCIPAIS INSIGHTS – O QUE OS DADOS REVELAM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A86B00"/>
                </a:solidFill>
                <a:latin typeface="Calibri"/>
              </a:rPr>
              <a:t>03 · VALOR ESTRATÉGICO DA SOLUÇÃO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16233A"/>
                </a:solidFill>
                <a:latin typeface="Cambria"/>
              </a:rPr>
              <a:t>O que a solução entrega ao gestor público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5117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66928" y="1317413"/>
            <a:ext cx="365760" cy="36576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aCheck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" y="1416168"/>
            <a:ext cx="168249" cy="168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9848" y="1235117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6233A"/>
                </a:solidFill>
                <a:latin typeface="Calibri"/>
              </a:rPr>
              <a:t>Classificação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235117"/>
            <a:ext cx="59893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Indica se o município tende a atingir a meta, com 81% de acerto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9477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66928" y="1911773"/>
            <a:ext cx="365760" cy="36576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FaPerc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" y="2010528"/>
            <a:ext cx="168249" cy="1682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69848" y="1829477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6233A"/>
                </a:solidFill>
                <a:latin typeface="Calibri"/>
              </a:rPr>
              <a:t>Risco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1829477"/>
            <a:ext cx="59893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Probabilidade de não atingir a meta, de 0 a 100%, por município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423837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66928" y="2506133"/>
            <a:ext cx="365760" cy="36576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FaList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" y="2604888"/>
            <a:ext cx="168249" cy="16824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69848" y="2423837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6233A"/>
                </a:solidFill>
                <a:latin typeface="Calibri"/>
              </a:rPr>
              <a:t>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2423837"/>
            <a:ext cx="59893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Fila de municípios prioritários para intervenção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8197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66928" y="3100493"/>
            <a:ext cx="365760" cy="36576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Fa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83" y="3199248"/>
            <a:ext cx="168249" cy="16824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69848" y="3018197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6233A"/>
                </a:solidFill>
                <a:latin typeface="Calibri"/>
              </a:rPr>
              <a:t>Interpretação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018197"/>
            <a:ext cx="59893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Mostra o que mais pesa: a taxa atual e o ponto de partida da meta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612557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66928" y="3694853"/>
            <a:ext cx="365760" cy="36576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683" y="3793608"/>
            <a:ext cx="168249" cy="16824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69848" y="3612557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6233A"/>
                </a:solidFill>
                <a:latin typeface="Calibri"/>
              </a:rPr>
              <a:t>Território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3612557"/>
            <a:ext cx="59893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Leitura por UF: 11 dos 20 maiores riscos estão no 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206240"/>
            <a:ext cx="82296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66928" y="4288536"/>
            <a:ext cx="365760" cy="36576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FaProjectDiagram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683" y="4387291"/>
            <a:ext cx="168249" cy="16824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69848" y="4206240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6233A"/>
                </a:solidFill>
                <a:latin typeface="Calibri"/>
              </a:rPr>
              <a:t>Padrões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4206240"/>
            <a:ext cx="59893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4 perfis de municípios com indicadores semelhantes (K-Means + PCA)</a:t>
            </a:r>
          </a:p>
        </p:txBody>
      </p:sp>
    </p:spTree>
    <p:extLst>
      <p:ext uri="{BB962C8B-B14F-4D97-AF65-F5344CB8AC3E}">
        <p14:creationId xmlns:p14="http://schemas.microsoft.com/office/powerpoint/2010/main" val="2278497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A8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APLICAÇÃO EM POLÍTICAS PÚBLICAS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9786" y="1324864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684106" y="1599184"/>
            <a:ext cx="640080" cy="640080"/>
          </a:xfrm>
          <a:prstGeom prst="ellipse">
            <a:avLst/>
          </a:prstGeom>
          <a:solidFill>
            <a:srgbClr val="F4B400"/>
          </a:solidFill>
          <a:ln w="12700">
            <a:solidFill>
              <a:srgbClr val="F4B40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28" y="1778406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2786" y="15534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recursos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52786" y="1937512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Direcionar formação docente, material e acompanhamento pedagógico aos municípios do topo do ranking.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1746" y="1324864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4936066" y="1599184"/>
            <a:ext cx="640080" cy="64008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288" y="1778406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04746" y="155346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 cedo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804746" y="1937512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a probabilidade como sinal de alerta antes da próxima avaliação, e não só para explicar o passado.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09786" y="3062224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1"/>
          <p:cNvSpPr/>
          <p:nvPr/>
        </p:nvSpPr>
        <p:spPr>
          <a:xfrm>
            <a:off x="684106" y="3336544"/>
            <a:ext cx="640080" cy="64008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328" y="3515766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2786" y="32908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Monitorar e calibrar metas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552786" y="3674872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Acompanhar a distância até a meta e revisar metas quando os pontos de partida são muito diferentes.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661746" y="3062224"/>
            <a:ext cx="3977640" cy="1508760"/>
          </a:xfrm>
          <a:prstGeom prst="roundRect">
            <a:avLst>
              <a:gd name="adj" fmla="val 48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5"/>
          <p:cNvSpPr/>
          <p:nvPr/>
        </p:nvSpPr>
        <p:spPr>
          <a:xfrm>
            <a:off x="4936066" y="3336544"/>
            <a:ext cx="640080" cy="640080"/>
          </a:xfrm>
          <a:prstGeom prst="ellipse">
            <a:avLst/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5288" y="3515766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804746" y="32908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Coordenar regionalmente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804746" y="3674872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 com as secretarias estaduais onde o risco se concentra, como RS, MA e BA.</a:t>
            </a:r>
            <a:endParaRPr 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>
                <a:solidFill>
                  <a:srgbClr val="16233A"/>
                </a:solidFill>
                <a:latin typeface="Cambria"/>
              </a:rPr>
              <a:t>Como o modelo apoia políticas públicas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 FINAL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públicos viram política pública quando apontam onde agir primeiro.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200" dirty="0"/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4B400"/>
                </a:solidFill>
                <a:latin typeface="Cambria"/>
              </a:rPr>
              <a:t>81%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5468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C9D3E3"/>
                </a:solidFill>
                <a:latin typeface="Calibri"/>
              </a:rPr>
              <a:t>de acerto no teste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231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4B400"/>
                </a:solidFill>
                <a:latin typeface="Cambria"/>
              </a:rPr>
              <a:t>0,90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15468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C9D3E3"/>
                </a:solidFill>
                <a:latin typeface="Calibri"/>
              </a:rPr>
              <a:t>de ROC-AUC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4231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4B400"/>
                </a:solidFill>
                <a:latin typeface="Cambria"/>
              </a:rPr>
              <a:t>1.047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15468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C9D3E3"/>
                </a:solidFill>
                <a:latin typeface="Calibri"/>
              </a:rPr>
              <a:t>municípios ranqueados por risco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8FA0BA"/>
                </a:solidFill>
                <a:latin typeface="Calibri"/>
              </a:rPr>
              <a:t>Grupo 106  ·  Tech Challenge Fase 3  ·  FIAP Pós Tech AI Scientist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1761</Words>
  <Application>Microsoft Office PowerPoint</Application>
  <PresentationFormat>Apresentação na tela (16:9)</PresentationFormat>
  <Paragraphs>210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Cambria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Challenge Fase 3 — Alfabetização em risco</dc:title>
  <dc:subject>PptxGenJS Presentation</dc:subject>
  <dc:creator>PptxGenJS</dc:creator>
  <cp:lastModifiedBy>Alessandro Pereira Dos Santos</cp:lastModifiedBy>
  <cp:revision>3</cp:revision>
  <dcterms:created xsi:type="dcterms:W3CDTF">2026-09-10T21:21:23Z</dcterms:created>
  <dcterms:modified xsi:type="dcterms:W3CDTF">2026-09-11T16:33:56Z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c996bf-6aee-415c-aa4c-e35ad0009c67_Enabled">
    <vt:lpwstr>true</vt:lpwstr>
  </property>
  <property fmtid="{D5CDD505-2E9C-101B-9397-08002B2CF9AE}" pid="3" name="MSIP_Label_4fc996bf-6aee-415c-aa4c-e35ad0009c67_SetDate">
    <vt:lpwstr>2026-09-10T21:30:25Z</vt:lpwstr>
  </property>
  <property fmtid="{D5CDD505-2E9C-101B-9397-08002B2CF9AE}" pid="4" name="MSIP_Label_4fc996bf-6aee-415c-aa4c-e35ad0009c67_Method">
    <vt:lpwstr>Standard</vt:lpwstr>
  </property>
  <property fmtid="{D5CDD505-2E9C-101B-9397-08002B2CF9AE}" pid="5" name="MSIP_Label_4fc996bf-6aee-415c-aa4c-e35ad0009c67_Name">
    <vt:lpwstr>Compartilhamento Interno</vt:lpwstr>
  </property>
  <property fmtid="{D5CDD505-2E9C-101B-9397-08002B2CF9AE}" pid="6" name="MSIP_Label_4fc996bf-6aee-415c-aa4c-e35ad0009c67_SiteId">
    <vt:lpwstr>591669a0-183f-49a5-98f4-9aa0d0b63d81</vt:lpwstr>
  </property>
  <property fmtid="{D5CDD505-2E9C-101B-9397-08002B2CF9AE}" pid="7" name="MSIP_Label_4fc996bf-6aee-415c-aa4c-e35ad0009c67_ActionId">
    <vt:lpwstr>97048fe2-24c6-4815-9158-2ad2c5e8bfca</vt:lpwstr>
  </property>
  <property fmtid="{D5CDD505-2E9C-101B-9397-08002B2CF9AE}" pid="8" name="MSIP_Label_4fc996bf-6aee-415c-aa4c-e35ad0009c67_ContentBits">
    <vt:lpwstr>2</vt:lpwstr>
  </property>
  <property fmtid="{D5CDD505-2E9C-101B-9397-08002B2CF9AE}" pid="9" name="MSIP_Label_4fc996bf-6aee-415c-aa4c-e35ad0009c67_Tag">
    <vt:lpwstr>10, 3, 0, 1</vt:lpwstr>
  </property>
  <property fmtid="{D5CDD505-2E9C-101B-9397-08002B2CF9AE}" pid="10" name="ClassificationContentMarkingFooterLocations">
    <vt:lpwstr>Office Theme:3</vt:lpwstr>
  </property>
  <property fmtid="{D5CDD505-2E9C-101B-9397-08002B2CF9AE}" pid="11" name="ClassificationContentMarkingFooterText">
    <vt:lpwstr>Corporativo | Interno</vt:lpwstr>
  </property>
</Properties>
</file>